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1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75132"/>
  </p:normalViewPr>
  <p:slideViewPr>
    <p:cSldViewPr snapToGrid="0" snapToObjects="1">
      <p:cViewPr varScale="1">
        <p:scale>
          <a:sx n="124" d="100"/>
          <a:sy n="124" d="100"/>
        </p:scale>
        <p:origin x="1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59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Dr. Yaqoob. Thank you for taking the time to meet with me. I will briefly introduce my academic and research background, then connect my work in efficient AI, LLM fine-tuning, multimodal learning, and production deployment with the AgBodied Lab focus on agricultural robotics, perception, embodied intelligence, and field-ready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trying to position myself not only as someone who can code, but as someone who understands research discipline, experimental evaluation, and real-world constraints. My industry experience helps me think carefully about deployment, reliability, and scalability.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183A2C"/>
                </a:solidFill>
              </a:rPr>
              <a:t>Good morning Dr. Yaqoob. Thank you for meeting with me. My background combines AI research, software engineering, and applied model deployment. I have worked on efficient LLM fine-tuning, multilingual NLP, multimodal models, RAG systems, and production AI platforms. What attracts me to your </a:t>
            </a:r>
            <a:r>
              <a:rPr lang="en-US" sz="1200" dirty="0" err="1">
                <a:solidFill>
                  <a:srgbClr val="183A2C"/>
                </a:solidFill>
              </a:rPr>
              <a:t>AgBodied</a:t>
            </a:r>
            <a:r>
              <a:rPr lang="en-US" sz="1200" dirty="0">
                <a:solidFill>
                  <a:srgbClr val="183A2C"/>
                </a:solidFill>
              </a:rPr>
              <a:t> Lab is the focus on intelligent automation for agriculture, especially embodied AI, robotic perception, multimodal sensing, and learning-based decision-making. I believe my experience with efficient model adaptation, constrained deployment, and real-world AI systems can help me contribute to perception and decision-making pipelines for agricultural robotics. I am excited to learn from your group and grow into a researcher who builds AI systems that are both publishable and practically useful.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would explain that my research work may appear diverse, but it has a clear connecting theme: efficient AI, constrained deployment, and careful empirical comparison. These are directly relevant to robots and sensing systems that must work in fields or greenhouses.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81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one gives me a capability that can be useful in Dr. Yaqoob’s lab: perception, efficient training, agents, deployment, and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bring strong AI engineering and research habits, then grow in the lab-specific robotics and sensing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interested in AI that has to perceive, decide, and operate in complex real environments, which is exactly the lab’s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have thought about possible directions, but I am open to shaping the question based on Dr. Yaqoob’s current projects and lab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47104"/>
            <a:ext cx="11155680" cy="0"/>
          </a:xfrm>
          <a:prstGeom prst="line">
            <a:avLst/>
          </a:prstGeom>
          <a:noFill/>
          <a:ln w="8890">
            <a:solidFill>
              <a:srgbClr val="B8C9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61111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Hamza Rauf  |  Research Advisor Presentation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92240" y="661111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Yaqoob Majeed · AgBodied Lab · University of Wyoming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hamzarauf.se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hamza-rauf-/" TargetMode="External"/><Relationship Id="rId4" Type="http://schemas.openxmlformats.org/officeDocument/2006/relationships/hyperlink" Target="https://scholar.google.com/citations?user=c-yjPVMAAAAJ&amp;hl=e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91440"/>
            <a:ext cx="2651760" cy="2651760"/>
          </a:xfrm>
          <a:prstGeom prst="arc">
            <a:avLst/>
          </a:prstGeom>
          <a:noFill/>
          <a:ln w="38100">
            <a:solidFill>
              <a:srgbClr val="BBD3AC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411480"/>
            <a:ext cx="2057400" cy="2057400"/>
          </a:xfrm>
          <a:prstGeom prst="arc">
            <a:avLst/>
          </a:prstGeom>
          <a:noFill/>
          <a:ln w="25400">
            <a:solidFill>
              <a:srgbClr val="75A85A">
                <a:alpha val="9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HAMZA RAUF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3182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Prospective Graduate researcher. </a:t>
            </a:r>
          </a:p>
        </p:txBody>
      </p:sp>
      <p:sp>
        <p:nvSpPr>
          <p:cNvPr id="7" name="Shape 5"/>
          <p:cNvSpPr/>
          <p:nvPr/>
        </p:nvSpPr>
        <p:spPr>
          <a:xfrm>
            <a:off x="749808" y="3886200"/>
            <a:ext cx="1234440" cy="356616"/>
          </a:xfrm>
          <a:prstGeom prst="roundRect">
            <a:avLst>
              <a:gd name="adj" fmla="val 20513"/>
            </a:avLst>
          </a:prstGeom>
          <a:solidFill>
            <a:srgbClr val="E8F1E7"/>
          </a:solidFill>
          <a:ln w="12700">
            <a:solidFill>
              <a:srgbClr val="D1DFD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5935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8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AI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48840" y="3886200"/>
            <a:ext cx="1508760" cy="356616"/>
          </a:xfrm>
          <a:prstGeom prst="roundRect">
            <a:avLst>
              <a:gd name="adj" fmla="val 20513"/>
            </a:avLst>
          </a:prstGeom>
          <a:solidFill>
            <a:srgbClr val="E8F1E7"/>
          </a:solidFill>
          <a:ln w="12700">
            <a:solidFill>
              <a:srgbClr val="D1DFD0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39593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8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 + QLoRA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858768" y="3863340"/>
            <a:ext cx="2011680" cy="356616"/>
          </a:xfrm>
          <a:prstGeom prst="roundRect">
            <a:avLst>
              <a:gd name="adj" fmla="val 20513"/>
            </a:avLst>
          </a:prstGeom>
          <a:solidFill>
            <a:srgbClr val="E8F1E7"/>
          </a:solidFill>
          <a:ln w="12700">
            <a:solidFill>
              <a:srgbClr val="D1DFD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39593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8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Deployment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749808" y="5257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/>
              </a:rPr>
              <a:t>hamzarauf.se@gmail.com</a:t>
            </a:r>
            <a:r>
              <a:rPr lang="en-US" sz="125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r>
              <a:rPr lang="en-US" sz="125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Google Scholar</a:t>
            </a:r>
            <a:r>
              <a:rPr lang="en-US" sz="125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r>
              <a:rPr lang="en-US" sz="125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/>
              </a:rPr>
              <a:t>LinkedIn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I 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53212" y="1083891"/>
            <a:ext cx="6877594" cy="3981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  <a:t>Hamza Rauf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  - Senior Software Engineer (AI) &amp; Research Assistant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  <a:t>5 years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 of professional industry-level experience and  2 years of research experience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B.S. Computer Science, Sukkur IBA University  </a:t>
            </a:r>
          </a:p>
          <a:p>
            <a:pPr marL="152400">
              <a:lnSpc>
                <a:spcPct val="150000"/>
              </a:lnSpc>
            </a:pP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	CGPA – 3.31 (85%) – </a:t>
            </a:r>
            <a: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  <a:t>top 5% of class.</a:t>
            </a:r>
            <a:endParaRPr lang="en-GB" sz="12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GRE 331/340, IELTS 7.0</a:t>
            </a:r>
          </a:p>
          <a:p>
            <a:pPr>
              <a:lnSpc>
                <a:spcPct val="150000"/>
              </a:lnSpc>
            </a:pPr>
            <a:b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  <a:t>Professional Skills &amp; Competencies:</a:t>
            </a:r>
            <a:endParaRPr lang="en-GB" sz="12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Python, C++,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Matlab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React.js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Node.js, Flask,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FastAPI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Langraph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Langchain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REST APIs, Latex, etc.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DevOps experience with </a:t>
            </a:r>
            <a: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  <a:t>AWS, Azure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Docker, Linux, CI/CD, etc.</a:t>
            </a:r>
            <a:b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  <a:t>Research skills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PyTorch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TensorFlow,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unsloth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Axotol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QLoRA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/PEFT, Multimodal LLMs, Generative AI professional.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Fine-tuning </a:t>
            </a:r>
            <a:r>
              <a:rPr lang="en-GB" sz="1200" b="1" dirty="0">
                <a:latin typeface="Aptos" panose="020B0004020202020204" pitchFamily="34" charset="0"/>
                <a:cs typeface="Times New Roman" panose="02020603050405020304" pitchFamily="18" charset="0"/>
              </a:rPr>
              <a:t>LLMs 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with 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LoRA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GB" sz="1200" dirty="0" err="1">
                <a:latin typeface="Aptos" panose="020B0004020202020204" pitchFamily="34" charset="0"/>
                <a:cs typeface="Times New Roman" panose="02020603050405020304" pitchFamily="18" charset="0"/>
              </a:rPr>
              <a:t>QLoRA</a:t>
            </a:r>
            <a:r>
              <a:rPr lang="en-GB" sz="1200" dirty="0">
                <a:latin typeface="Aptos" panose="020B0004020202020204" pitchFamily="34" charset="0"/>
                <a:cs typeface="Times New Roman" panose="02020603050405020304" pitchFamily="18" charset="0"/>
              </a:rPr>
              <a:t> on tasks like spam detection, medical imaging, reasoning, RAG, agents, etc</a:t>
            </a:r>
          </a:p>
          <a:p>
            <a:pPr marL="3810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81000" indent="-228600">
              <a:buFont typeface="Arial" panose="020B0604020202020204" pitchFamily="34" charset="0"/>
              <a:buChar char="•"/>
            </a:pPr>
            <a:endParaRPr lang="en-GB" sz="12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0956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331/340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909560" y="1856232"/>
            <a:ext cx="1371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46920" y="1417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46920" y="1856232"/>
            <a:ext cx="1005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2788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yrs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35240" y="3227832"/>
            <a:ext cx="1463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AI/software experience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0" y="27889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418320" y="3227832"/>
            <a:ext cx="1417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class 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3A2C"/>
                </a:solidFill>
              </a:rPr>
              <a:t>What I bring to a lab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26680" y="4498848"/>
            <a:ext cx="32918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discipline</a:t>
            </a:r>
            <a:endParaRPr lang="en-US" sz="1250" dirty="0"/>
          </a:p>
          <a:p>
            <a:r>
              <a:rPr lang="en-US" sz="125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reliability</a:t>
            </a:r>
            <a:endParaRPr lang="en-US" sz="1250" dirty="0"/>
          </a:p>
          <a:p>
            <a:r>
              <a:rPr lang="en-US" sz="125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model training</a:t>
            </a:r>
            <a:endParaRPr lang="en-US" sz="1250" dirty="0"/>
          </a:p>
          <a:p>
            <a:r>
              <a:rPr lang="en-US" sz="125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writing and mentoring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OF READINESS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and Research Achievements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1404149"/>
            <a:ext cx="7488936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Fully-funded </a:t>
            </a:r>
            <a:r>
              <a:rPr lang="en-GB" sz="1300" b="1" dirty="0">
                <a:latin typeface="Aptos" panose="020B0004020202020204" pitchFamily="34" charset="0"/>
              </a:rPr>
              <a:t>merit scholarship</a:t>
            </a:r>
            <a:r>
              <a:rPr lang="en-GB" sz="1300" dirty="0">
                <a:latin typeface="Aptos" panose="020B0004020202020204" pitchFamily="34" charset="0"/>
              </a:rPr>
              <a:t> as one of </a:t>
            </a:r>
            <a:r>
              <a:rPr lang="en-GB" sz="1300" b="1" dirty="0">
                <a:latin typeface="Aptos" panose="020B0004020202020204" pitchFamily="34" charset="0"/>
              </a:rPr>
              <a:t>the top 100 students nationwide</a:t>
            </a:r>
            <a:endParaRPr lang="en-GB" sz="1300" dirty="0">
              <a:latin typeface="Aptos" panose="020B00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Distinction in </a:t>
            </a:r>
            <a:r>
              <a:rPr lang="en-GB" sz="1300" b="1" dirty="0">
                <a:latin typeface="Aptos" panose="020B0004020202020204" pitchFamily="34" charset="0"/>
              </a:rPr>
              <a:t>23 courses</a:t>
            </a:r>
            <a:r>
              <a:rPr lang="en-GB" sz="1300" dirty="0">
                <a:latin typeface="Aptos" panose="020B0004020202020204" pitchFamily="34" charset="0"/>
              </a:rPr>
              <a:t>; strong base in Data structures, </a:t>
            </a:r>
            <a:r>
              <a:rPr lang="en-GB" sz="1300" b="1" dirty="0">
                <a:latin typeface="Aptos" panose="020B0004020202020204" pitchFamily="34" charset="0"/>
              </a:rPr>
              <a:t>Human Computer Interaction</a:t>
            </a:r>
            <a:r>
              <a:rPr lang="en-GB" sz="1300" dirty="0">
                <a:latin typeface="Aptos" panose="020B0004020202020204" pitchFamily="34" charset="0"/>
              </a:rPr>
              <a:t>, and </a:t>
            </a:r>
            <a:r>
              <a:rPr lang="en-GB" sz="1300" b="1" dirty="0">
                <a:latin typeface="Aptos" panose="020B0004020202020204" pitchFamily="34" charset="0"/>
              </a:rPr>
              <a:t>Enterprise App Development </a:t>
            </a:r>
            <a:r>
              <a:rPr lang="en-GB" sz="1300" dirty="0">
                <a:latin typeface="Aptos" panose="020B0004020202020204" pitchFamily="34" charset="0"/>
              </a:rPr>
              <a:t>Courses,</a:t>
            </a:r>
            <a:r>
              <a:rPr lang="en-GB" sz="1300" b="1" dirty="0">
                <a:latin typeface="Aptos" panose="020B0004020202020204" pitchFamily="34" charset="0"/>
              </a:rPr>
              <a:t> </a:t>
            </a:r>
            <a:r>
              <a:rPr lang="en-GB" sz="1300" dirty="0">
                <a:latin typeface="Aptos" panose="020B0004020202020204" pitchFamily="34" charset="0"/>
              </a:rPr>
              <a:t>etc.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1D262A"/>
                </a:solidFill>
                <a:effectLst/>
                <a:latin typeface="Aptos" panose="020B0004020202020204" pitchFamily="34" charset="0"/>
              </a:rPr>
              <a:t>Secure a professional job offer prior to graduation. </a:t>
            </a:r>
            <a:endParaRPr lang="en-GB" sz="1300" dirty="0">
              <a:latin typeface="Aptos" panose="020B00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Worked as a Research Assistant with Dr Umair Khan, a </a:t>
            </a:r>
            <a:r>
              <a:rPr lang="en-GB" sz="1300" b="1" dirty="0">
                <a:latin typeface="Aptos" panose="020B0004020202020204" pitchFamily="34" charset="0"/>
              </a:rPr>
              <a:t>Stanford World’s Top 2% Scientist.</a:t>
            </a:r>
            <a:endParaRPr lang="en-GB" sz="1300" dirty="0">
              <a:latin typeface="Aptos" panose="020B00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b="1" dirty="0">
                <a:latin typeface="Aptos" panose="020B0004020202020204" pitchFamily="34" charset="0"/>
              </a:rPr>
              <a:t>Published 3 papers </a:t>
            </a:r>
            <a:r>
              <a:rPr lang="en-GB" sz="1300" dirty="0">
                <a:latin typeface="Aptos" panose="020B0004020202020204" pitchFamily="34" charset="0"/>
              </a:rPr>
              <a:t>as a</a:t>
            </a:r>
            <a:r>
              <a:rPr lang="en-GB" sz="1300" b="1" dirty="0">
                <a:latin typeface="Aptos" panose="020B0004020202020204" pitchFamily="34" charset="0"/>
              </a:rPr>
              <a:t> First author</a:t>
            </a:r>
            <a:r>
              <a:rPr lang="en-GB" sz="1300" dirty="0">
                <a:latin typeface="Aptos" panose="020B0004020202020204" pitchFamily="34" charset="0"/>
              </a:rPr>
              <a:t>, including a </a:t>
            </a:r>
            <a:r>
              <a:rPr lang="en-GB" sz="1300" b="1" dirty="0">
                <a:latin typeface="Aptos" panose="020B0004020202020204" pitchFamily="34" charset="0"/>
              </a:rPr>
              <a:t>Q1 journal </a:t>
            </a:r>
            <a:r>
              <a:rPr lang="en-GB" sz="1300" dirty="0">
                <a:latin typeface="Aptos" panose="020B0004020202020204" pitchFamily="34" charset="0"/>
              </a:rPr>
              <a:t>with</a:t>
            </a:r>
            <a:r>
              <a:rPr lang="en-GB" sz="1300" b="1" dirty="0">
                <a:latin typeface="Aptos" panose="020B0004020202020204" pitchFamily="34" charset="0"/>
              </a:rPr>
              <a:t> </a:t>
            </a:r>
            <a:r>
              <a:rPr lang="en-GB" sz="1300" dirty="0">
                <a:latin typeface="Aptos" panose="020B0004020202020204" pitchFamily="34" charset="0"/>
              </a:rPr>
              <a:t>an impact</a:t>
            </a:r>
            <a:r>
              <a:rPr lang="en-GB" sz="1300" b="1" dirty="0">
                <a:latin typeface="Aptos" panose="020B0004020202020204" pitchFamily="34" charset="0"/>
              </a:rPr>
              <a:t> </a:t>
            </a:r>
            <a:r>
              <a:rPr lang="en-GB" sz="1300" dirty="0">
                <a:latin typeface="Aptos" panose="020B0004020202020204" pitchFamily="34" charset="0"/>
              </a:rPr>
              <a:t>factor</a:t>
            </a:r>
            <a:r>
              <a:rPr lang="en-GB" sz="1300" b="1" dirty="0">
                <a:latin typeface="Aptos" panose="020B0004020202020204" pitchFamily="34" charset="0"/>
              </a:rPr>
              <a:t> </a:t>
            </a:r>
            <a:r>
              <a:rPr lang="en-GB" sz="1300" dirty="0">
                <a:latin typeface="Aptos" panose="020B0004020202020204" pitchFamily="34" charset="0"/>
              </a:rPr>
              <a:t>of</a:t>
            </a:r>
            <a:r>
              <a:rPr lang="en-GB" sz="1300" b="1" dirty="0">
                <a:latin typeface="Aptos" panose="020B0004020202020204" pitchFamily="34" charset="0"/>
              </a:rPr>
              <a:t> 5.1.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1D262A"/>
                </a:solidFill>
                <a:effectLst/>
                <a:latin typeface="Aptos" panose="020B0004020202020204" pitchFamily="34" charset="0"/>
              </a:rPr>
              <a:t>Employee of the Year for two consecutive years (2023, 2024) at Coding Crafts.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1D262A"/>
                </a:solidFill>
                <a:latin typeface="Aptos" panose="020B0004020202020204" pitchFamily="34" charset="0"/>
              </a:rPr>
              <a:t>Section leader at </a:t>
            </a:r>
            <a:r>
              <a:rPr lang="en-GB" sz="1300" b="1" dirty="0">
                <a:solidFill>
                  <a:srgbClr val="1D262A"/>
                </a:solidFill>
                <a:latin typeface="Aptos" panose="020B0004020202020204" pitchFamily="34" charset="0"/>
              </a:rPr>
              <a:t>Stanford Code in place </a:t>
            </a:r>
            <a:r>
              <a:rPr lang="en-GB" sz="1300" dirty="0">
                <a:solidFill>
                  <a:srgbClr val="1D262A"/>
                </a:solidFill>
                <a:latin typeface="Aptos" panose="020B0004020202020204" pitchFamily="34" charset="0"/>
              </a:rPr>
              <a:t>2024.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1D262A"/>
                </a:solidFill>
                <a:effectLst/>
                <a:latin typeface="Aptos" panose="020B0004020202020204" pitchFamily="34" charset="0"/>
              </a:rPr>
              <a:t>Winner Team at the NETSOL AI Hackathon.</a:t>
            </a:r>
            <a:endParaRPr lang="en-GB" sz="13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300" b="1" dirty="0">
                <a:latin typeface="Aptos" panose="020B0004020202020204" pitchFamily="34" charset="0"/>
              </a:rPr>
              <a:t>Experience with: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Systematic literature reviews &amp; Surveys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Experimental design, evaluation metrics</a:t>
            </a:r>
          </a:p>
          <a:p>
            <a:pPr marL="3238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Scientific writing (Latex, </a:t>
            </a:r>
            <a:r>
              <a:rPr lang="en-GB" sz="1300" dirty="0" err="1">
                <a:latin typeface="Aptos" panose="020B0004020202020204" pitchFamily="34" charset="0"/>
              </a:rPr>
              <a:t>Atlas.ti</a:t>
            </a:r>
            <a:r>
              <a:rPr lang="en-GB" sz="1300" dirty="0">
                <a:latin typeface="Aptos" panose="020B0004020202020204" pitchFamily="34" charset="0"/>
              </a:rPr>
              <a:t> , SPSS )</a:t>
            </a:r>
          </a:p>
        </p:txBody>
      </p:sp>
      <p:sp>
        <p:nvSpPr>
          <p:cNvPr id="6" name="Text 4"/>
          <p:cNvSpPr/>
          <p:nvPr/>
        </p:nvSpPr>
        <p:spPr>
          <a:xfrm>
            <a:off x="8366760" y="155448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66760" y="1993392"/>
            <a:ext cx="1143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first-author journal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2124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921240" y="1993392"/>
            <a:ext cx="1097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papers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66760" y="3017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366760" y="3456432"/>
            <a:ext cx="1143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LLM spam 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21240" y="3017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yrs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921240" y="3456432"/>
            <a:ext cx="1143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of the Year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183A2C"/>
                </a:solidFill>
              </a:rPr>
              <a:t>These achievements matter because they show I can move from idea → experiment → manuscript → working system.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Experience: Efficient and Deployable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94701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PAPER · MULTILINGUAL SPAM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5120640" cy="28718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Built a balanced 21-language dataset using synthetic translation to address multilingual data scarcity.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Fine-tuned small LLMs , Gemma 3, Qwen 3, and Llama 3.2 , using 4-bit QLoRA.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Best model achieved 90% accuracy and 0.88 F1-score, with lower VRAM requirements.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Main lesson for robotics: AI must be adapted for limited compute, latency, and privacy-sensitive environments.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55080" y="1947019"/>
            <a:ext cx="41768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PAPER · ML SURROGATES FOR COMPLEX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664208"/>
            <a:ext cx="512064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8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Applied ML surrogate modeling to complex nanofluid behavior where numerical solvers are expensive.</a:t>
            </a:r>
            <a:endParaRPr lang="en-US" sz="138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8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Compared ANN-LM and Gaussian Process Regression, including uncertainty-aware prediction.</a:t>
            </a:r>
            <a:endParaRPr lang="en-US" sz="138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8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Showed near-perfect predictive performance for engineering quantities such as Nusselt number.</a:t>
            </a:r>
            <a:endParaRPr lang="en-US" sz="138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8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Main lesson for robotics: Trained models can support fast prediction, control, and decision-making under uncertainty.</a:t>
            </a:r>
            <a:endParaRPr lang="en-US" sz="1380" dirty="0">
              <a:latin typeface="Aptos" panose="020B0004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E54F002-2C87-A2F6-636D-7CB9A3B5DA6C}"/>
              </a:ext>
            </a:extLst>
          </p:cNvPr>
          <p:cNvSpPr/>
          <p:nvPr/>
        </p:nvSpPr>
        <p:spPr>
          <a:xfrm>
            <a:off x="868680" y="4320330"/>
            <a:ext cx="10058400" cy="1300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83A2C"/>
                </a:solidFill>
                <a:latin typeface="Aptos" panose="020B0004020202020204" pitchFamily="34" charset="0"/>
              </a:rPr>
              <a:t>Sentiment Analysis of Twitter for Electoral Process: A Systematic Literature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83A2C"/>
                </a:solidFill>
                <a:latin typeface="Aptos" panose="020B0004020202020204" pitchFamily="34" charset="0"/>
              </a:rPr>
              <a:t>Using Generative AI for Simulating cyber Security attacks and </a:t>
            </a:r>
            <a:r>
              <a:rPr lang="en-US" sz="1300" dirty="0" err="1">
                <a:solidFill>
                  <a:srgbClr val="183A2C"/>
                </a:solidFill>
                <a:latin typeface="Aptos" panose="020B0004020202020204" pitchFamily="34" charset="0"/>
              </a:rPr>
              <a:t>Defence</a:t>
            </a:r>
            <a:r>
              <a:rPr lang="en-US" sz="1300" dirty="0">
                <a:solidFill>
                  <a:srgbClr val="183A2C"/>
                </a:solidFill>
                <a:latin typeface="Aptos" panose="020B0004020202020204" pitchFamily="34" charset="0"/>
              </a:rPr>
              <a:t> Mechanisms: A new approach to AI-Driven cyber Threat Modeling.</a:t>
            </a:r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83A2C"/>
                </a:solidFill>
                <a:latin typeface="Aptos" panose="020B0004020202020204" pitchFamily="34" charset="0"/>
              </a:rPr>
              <a:t>In Review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83A2C"/>
                </a:solidFill>
                <a:latin typeface="Aptos" panose="020B0004020202020204" pitchFamily="34" charset="0"/>
              </a:rPr>
              <a:t>Comparative Analysis of Advanced Machine Learning Models for Non-Newtonian (Micropolar) Hybrid Nanofluids with Buoyancy Forces. WNN with </a:t>
            </a:r>
            <a:r>
              <a:rPr lang="en-US" sz="1300" dirty="0" err="1">
                <a:solidFill>
                  <a:srgbClr val="183A2C"/>
                </a:solidFill>
                <a:latin typeface="Aptos" panose="020B0004020202020204" pitchFamily="34" charset="0"/>
              </a:rPr>
              <a:t>Morlet</a:t>
            </a:r>
            <a:r>
              <a:rPr lang="en-US" sz="1300" dirty="0">
                <a:solidFill>
                  <a:srgbClr val="183A2C"/>
                </a:solidFill>
                <a:latin typeface="Aptos" panose="020B0004020202020204" pitchFamily="34" charset="0"/>
              </a:rPr>
              <a:t> and </a:t>
            </a:r>
            <a:r>
              <a:rPr lang="en-US" sz="1300" dirty="0" err="1">
                <a:solidFill>
                  <a:srgbClr val="183A2C"/>
                </a:solidFill>
                <a:latin typeface="Aptos" panose="020B0004020202020204" pitchFamily="34" charset="0"/>
              </a:rPr>
              <a:t>Mexhat</a:t>
            </a:r>
            <a:r>
              <a:rPr lang="en-US" sz="1300" dirty="0">
                <a:solidFill>
                  <a:srgbClr val="183A2C"/>
                </a:solidFill>
                <a:latin typeface="Aptos" panose="020B0004020202020204" pitchFamily="34" charset="0"/>
              </a:rPr>
              <a:t>, ANN with ADAM and LM.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183A2C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94292"/>
            <a:ext cx="50292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41507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BRIDGING LANGUAGE AND EMBODIMENT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53212" y="12246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Research: Embodied Emotion Classification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" y="1738993"/>
            <a:ext cx="5577840" cy="40151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Research question: Which prompting and </a:t>
            </a:r>
            <a:r>
              <a:rPr lang="en-US" sz="1300" dirty="0" err="1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QLoRA</a:t>
            </a: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strategy best enables small LLMs for embodied emotion classification?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Focuses on emotions expressed through bodily cues, such as trembling hands, tightened throat, or clenched jaw.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Benchmarks zero-shot, few-shot, chain-of-thought, and chain-of-verification prompting.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Uses 4-bit </a:t>
            </a:r>
            <a:r>
              <a:rPr lang="en-US" sz="1300" dirty="0" err="1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QLoRA</a:t>
            </a: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to test whether small models can become robust without expensive training.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This strengthens my interest in embodied intelligence: how AI interprets indirect, context-rich signals from human or physical behavior.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35240" y="2788920"/>
            <a:ext cx="868680" cy="0"/>
          </a:xfrm>
          <a:prstGeom prst="line">
            <a:avLst/>
          </a:prstGeom>
          <a:noFill/>
          <a:ln w="25400">
            <a:solidFill>
              <a:srgbClr val="75A8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979408" y="2788920"/>
            <a:ext cx="868680" cy="0"/>
          </a:xfrm>
          <a:prstGeom prst="line">
            <a:avLst/>
          </a:prstGeom>
          <a:noFill/>
          <a:ln w="25400">
            <a:solidFill>
              <a:srgbClr val="75A8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0" y="2578608"/>
            <a:ext cx="960120" cy="356616"/>
          </a:xfrm>
          <a:prstGeom prst="roundRect">
            <a:avLst>
              <a:gd name="adj" fmla="val 20513"/>
            </a:avLst>
          </a:prstGeom>
          <a:solidFill>
            <a:srgbClr val="E8F1E7"/>
          </a:solidFill>
          <a:ln w="12700">
            <a:solidFill>
              <a:srgbClr val="D1DFD0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265176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8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bodily cue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8229600" y="2578608"/>
            <a:ext cx="960120" cy="356616"/>
          </a:xfrm>
          <a:prstGeom prst="roundRect">
            <a:avLst>
              <a:gd name="adj" fmla="val 20513"/>
            </a:avLst>
          </a:prstGeom>
          <a:solidFill>
            <a:srgbClr val="E8F1E7"/>
          </a:solidFill>
          <a:ln w="12700">
            <a:solidFill>
              <a:srgbClr val="D1DFD0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65176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8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9582912" y="2578608"/>
            <a:ext cx="960120" cy="356616"/>
          </a:xfrm>
          <a:prstGeom prst="roundRect">
            <a:avLst>
              <a:gd name="adj" fmla="val 20513"/>
            </a:avLst>
          </a:prstGeom>
          <a:solidFill>
            <a:srgbClr val="E8F1E7"/>
          </a:solidFill>
          <a:ln w="12700">
            <a:solidFill>
              <a:srgbClr val="D1DFD0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6064" y="265176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83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690372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A2C"/>
                </a:solidFill>
              </a:rPr>
              <a:t>Why it matters for AgBodied Lab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5160" y="4096512"/>
            <a:ext cx="3749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allows me to study embodied signals, contextual reasoning, and efficient adaptation.</a:t>
            </a:r>
            <a:endParaRPr lang="en-US" sz="1220" dirty="0"/>
          </a:p>
          <a:p>
            <a:r>
              <a:rPr lang="en-US" sz="122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mindset can extend to robot perception: plants, actions, sensor cues, and uncertain scenes.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EXPERIENCE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3232" y="9034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&amp; Teaching Experience (5 Years)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1342372"/>
            <a:ext cx="9366069" cy="4173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GB" sz="1300" b="1" dirty="0">
                <a:latin typeface="Aptos" panose="020B0004020202020204" pitchFamily="34" charset="0"/>
              </a:rPr>
              <a:t>Senior Software Engineer – Coding Crafts (2022–Present)</a:t>
            </a:r>
            <a:endParaRPr lang="en-GB" sz="13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Autonomous </a:t>
            </a:r>
            <a:r>
              <a:rPr lang="en-GB" sz="1300" b="1" dirty="0">
                <a:latin typeface="Aptos" panose="020B0004020202020204" pitchFamily="34" charset="0"/>
              </a:rPr>
              <a:t>AI agent </a:t>
            </a:r>
            <a:r>
              <a:rPr lang="en-GB" sz="1300" dirty="0">
                <a:latin typeface="Aptos" panose="020B0004020202020204" pitchFamily="34" charset="0"/>
              </a:rPr>
              <a:t>for web automation.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Implemented new AI features like </a:t>
            </a:r>
            <a:r>
              <a:rPr lang="en-GB" sz="1300" b="1" dirty="0">
                <a:latin typeface="Aptos" panose="020B0004020202020204" pitchFamily="34" charset="0"/>
              </a:rPr>
              <a:t>RAG</a:t>
            </a:r>
            <a:r>
              <a:rPr lang="en-GB" sz="1300" dirty="0">
                <a:latin typeface="Aptos" panose="020B0004020202020204" pitchFamily="34" charset="0"/>
              </a:rPr>
              <a:t> and </a:t>
            </a:r>
            <a:r>
              <a:rPr lang="en-GB" sz="1300" b="1" dirty="0" err="1">
                <a:latin typeface="Aptos" panose="020B0004020202020204" pitchFamily="34" charset="0"/>
              </a:rPr>
              <a:t>LoRA</a:t>
            </a:r>
            <a:r>
              <a:rPr lang="en-GB" sz="1300" b="1" dirty="0">
                <a:latin typeface="Aptos" panose="020B0004020202020204" pitchFamily="34" charset="0"/>
              </a:rPr>
              <a:t>-tuned Llama 3 OCR for sensitive documents.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Mentored </a:t>
            </a:r>
            <a:r>
              <a:rPr lang="en-GB" sz="1300" b="1" dirty="0">
                <a:latin typeface="Aptos" panose="020B0004020202020204" pitchFamily="34" charset="0"/>
              </a:rPr>
              <a:t>3 junior engineers</a:t>
            </a:r>
            <a:r>
              <a:rPr lang="en-GB" sz="1300" dirty="0">
                <a:latin typeface="Aptos" panose="020B0004020202020204" pitchFamily="34" charset="0"/>
              </a:rPr>
              <a:t>, focusing on architecture and code quality.</a:t>
            </a:r>
          </a:p>
          <a:p>
            <a:pPr>
              <a:lnSpc>
                <a:spcPct val="150000"/>
              </a:lnSpc>
            </a:pPr>
            <a:r>
              <a:rPr lang="en-GB" sz="1300" b="1" dirty="0">
                <a:latin typeface="Aptos" panose="020B0004020202020204" pitchFamily="34" charset="0"/>
              </a:rPr>
              <a:t>Software Engineer – Valyrian System (2020–2022)</a:t>
            </a:r>
            <a:endParaRPr lang="en-GB" sz="13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Migrated a monolith to </a:t>
            </a:r>
            <a:r>
              <a:rPr lang="en-GB" sz="1300" b="1" dirty="0">
                <a:latin typeface="Aptos" panose="020B0004020202020204" pitchFamily="34" charset="0"/>
              </a:rPr>
              <a:t>microservices, </a:t>
            </a:r>
            <a:r>
              <a:rPr lang="en-GB" sz="1300" dirty="0">
                <a:latin typeface="Aptos" panose="020B0004020202020204" pitchFamily="34" charset="0"/>
              </a:rPr>
              <a:t>cutting API latency by 60%.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Implementation of a real-time network filtering platform at 100GBps using </a:t>
            </a:r>
            <a:r>
              <a:rPr lang="en-GB" sz="1300" dirty="0" err="1">
                <a:latin typeface="Aptos" panose="020B0004020202020204" pitchFamily="34" charset="0"/>
              </a:rPr>
              <a:t>EBpf</a:t>
            </a:r>
            <a:r>
              <a:rPr lang="en-GB" sz="1300" dirty="0">
                <a:latin typeface="Aptos" panose="020B0004020202020204" pitchFamily="34" charset="0"/>
              </a:rPr>
              <a:t> on the kernel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Built and configured an on-site high availability database cluster.</a:t>
            </a:r>
          </a:p>
          <a:p>
            <a:pPr marL="152400" indent="0">
              <a:lnSpc>
                <a:spcPct val="150000"/>
              </a:lnSpc>
            </a:pPr>
            <a:r>
              <a:rPr lang="en-GB" sz="1300" b="1" dirty="0">
                <a:latin typeface="Aptos" panose="020B0004020202020204" pitchFamily="34" charset="0"/>
              </a:rPr>
              <a:t>Teaching &amp; Mentoring</a:t>
            </a:r>
            <a:endParaRPr lang="en-GB" sz="13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Guide juniors and teammates on new technologies in AI.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Taught Python at </a:t>
            </a:r>
            <a:r>
              <a:rPr lang="en-GB" sz="1300" b="1" dirty="0">
                <a:latin typeface="Aptos" panose="020B0004020202020204" pitchFamily="34" charset="0"/>
              </a:rPr>
              <a:t>Sandford</a:t>
            </a:r>
            <a:r>
              <a:rPr lang="en-GB" sz="1300" dirty="0">
                <a:latin typeface="Aptos" panose="020B0004020202020204" pitchFamily="34" charset="0"/>
              </a:rPr>
              <a:t> Code in Place program.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300" dirty="0">
                <a:latin typeface="Aptos" panose="020B0004020202020204" pitchFamily="34" charset="0"/>
              </a:rPr>
              <a:t>Taught DevOps practices and mentored students on cloud projects at Cloud College.</a:t>
            </a:r>
          </a:p>
        </p:txBody>
      </p:sp>
    </p:spTree>
    <p:extLst>
      <p:ext uri="{BB962C8B-B14F-4D97-AF65-F5344CB8AC3E}">
        <p14:creationId xmlns:p14="http://schemas.microsoft.com/office/powerpoint/2010/main" val="418536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EVIDENCE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Projects with Research Value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65114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HELLOGOV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664208"/>
            <a:ext cx="3474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AI platform combining OCR, LLM extraction, validation, and agentic portal automation.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Scaled to large real-users.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26280" y="166747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IMAGE VLM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1664208"/>
            <a:ext cx="3474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Fine-tuned Llama 3 Vision 11B using PEFT, LoRA, and 4-bit quantization.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Relevant to multimodal perception and specialized visual understanding.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0" y="1651145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+ HYBRID RAG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0" y="1664208"/>
            <a:ext cx="33832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Built context-aware recommendation pipelines using vector search, graph structure, and LLM reasoning.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Relevant to knowledge-grounded decision support and digital agriculture systems.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 REASONING ALIGNMENT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4087368"/>
            <a:ext cx="3474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Implemented GRPO-style alignment with structured reasoning and custom rewards.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Useful for decision-making, planning, and policy learning under constraints.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26280" y="39110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FROM SCRATCH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4087368"/>
            <a:ext cx="3474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Built a GPT-style 60M parameter model in PyTorch from first principles.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Gave me deeper understanding of attention mechanism, training loops, and model behavior.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11312" y="39110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FACE MASK DETECTOR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087368"/>
            <a:ext cx="33832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Built lightweight real-time vision pipeline for constrained devices.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Connects well with edge perception needs in robotics and field systems.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RESEARCH-RELEVANT SKILLS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Toolkit I Can Bring to the 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671393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LLMs and VLMs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LoRA / QLoRA / PEFT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4-bit and 8-bit quantization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Prompting and reasoning evaluation</a:t>
            </a:r>
            <a:endParaRPr lang="en-US" sz="127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86200" y="1700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+ MULTIMODAL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1920" y="1664208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PyTorch, TensorFlow, OpenCV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YOLO / segmentation workflows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Medical image VLM fine-tuning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Interest in RGB + depth + LiDAR fusion</a:t>
            </a:r>
            <a:endParaRPr lang="en-US" sz="127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31152" y="16723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 + DEPLOYMENT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95160" y="1664208"/>
            <a:ext cx="27432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FastAPI, Flask, Node.js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AWS, Azure, GCP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Docker, Kubernetes, Linux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CI/CD, observability, APIs</a:t>
            </a:r>
            <a:endParaRPr lang="en-US" sz="127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4133088"/>
            <a:ext cx="2743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Literature reviews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Evaluation metrics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Scientific writing and LaTeX</a:t>
            </a:r>
            <a:endParaRPr lang="en-US" sz="127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86200" y="4050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AI PIPELINES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4133088"/>
            <a:ext cx="2743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Synthetic data generation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Distillation pipelines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Vector databases and RAG</a:t>
            </a: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</a:rPr>
              <a:t>Perception based Agentic Systems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PySpark and ETL foundations</a:t>
            </a:r>
            <a:endParaRPr lang="en-US" sz="127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31152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MENTORING + TEAMWORK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95160" y="4133088"/>
            <a:ext cx="274320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Mentored junior engineers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Taught Python and DevOps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Comfortable in interdisciplinary teams</a:t>
            </a:r>
            <a:endParaRPr lang="en-US" sz="1270" dirty="0">
              <a:latin typeface="Aptos" panose="020B0004020202020204" pitchFamily="34" charset="0"/>
            </a:endParaRPr>
          </a:p>
          <a:p>
            <a:r>
              <a:rPr lang="en-US" sz="127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Clear technical communication</a:t>
            </a:r>
            <a:endParaRPr lang="en-US" sz="127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ALIGNMENT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 with </a:t>
            </a:r>
            <a:r>
              <a:rPr lang="en-US" sz="2600" b="1" dirty="0" err="1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AgBodied</a:t>
            </a: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842189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59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DIRECTION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36576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Embodied AI and autonomous robotic systems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Robotic perception and multimodal sensing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Learning-based manipulation and decision-making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AI-driven agricultural systems and digital twins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59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EXPERIENCE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1664208"/>
            <a:ext cx="36576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Efficient LLM/VLM adaptation with LoRA and QLoRA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Computer vision, segmentation, OCR, and multimodal workflows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Production AI systems with reliability and deployment constraints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Research writing, benchmarking, and empirical evaluation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63098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59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 CAN CONTRIBUTE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63098" y="1674985"/>
            <a:ext cx="34747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Efficient perception models for field or greenhouse robots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Sensor-aware AI pipelines for RGB, depth, LiDAR, and spectral data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Data-efficient learning, synthetic data, and distillation pipelines</a:t>
            </a:r>
            <a:endParaRPr lang="en-US" sz="1300" dirty="0">
              <a:latin typeface="Aptos" panose="020B0004020202020204" pitchFamily="34" charset="0"/>
            </a:endParaRPr>
          </a:p>
          <a:p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Robust model evaluation under lighting, occlusion, and domain shift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3524" y="5199328"/>
            <a:ext cx="102870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83A2C"/>
                </a:solidFill>
                <a:latin typeface="Aptos" panose="020B0004020202020204" pitchFamily="34" charset="0"/>
              </a:rPr>
              <a:t>I see a strong match because </a:t>
            </a:r>
            <a:r>
              <a:rPr lang="en-US" sz="1600" b="1" dirty="0" err="1">
                <a:solidFill>
                  <a:srgbClr val="183A2C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AgBodied</a:t>
            </a:r>
            <a:r>
              <a:rPr lang="en-US" sz="1600" b="1" dirty="0">
                <a:solidFill>
                  <a:srgbClr val="183A2C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600" b="1" dirty="0">
                <a:solidFill>
                  <a:srgbClr val="183A2C"/>
                </a:solidFill>
                <a:latin typeface="Aptos" panose="020B0004020202020204" pitchFamily="34" charset="0"/>
              </a:rPr>
              <a:t>lab builds intelligent, embodied systems for agriculture, while my strong interests are efficient AI, multimodal learning, and building systems that survive real-world constraints.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031F6-5AB6-7960-47FF-D3CC94906994}"/>
              </a:ext>
            </a:extLst>
          </p:cNvPr>
          <p:cNvSpPr txBox="1"/>
          <p:nvPr/>
        </p:nvSpPr>
        <p:spPr>
          <a:xfrm>
            <a:off x="713232" y="3942355"/>
            <a:ext cx="1015682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b="1" dirty="0">
                <a:latin typeface="Aptos" panose="020B0004020202020204" pitchFamily="34" charset="0"/>
              </a:rPr>
              <a:t>Paper Title:</a:t>
            </a:r>
            <a:r>
              <a:rPr lang="en-GB" sz="1300" dirty="0">
                <a:latin typeface="Aptos" panose="020B0004020202020204" pitchFamily="34" charset="0"/>
              </a:rPr>
              <a:t> </a:t>
            </a:r>
            <a:r>
              <a:rPr lang="en-GB" sz="1300" i="1" dirty="0">
                <a:latin typeface="Aptos" panose="020B0004020202020204" pitchFamily="34" charset="0"/>
              </a:rPr>
              <a:t>Performance-Optimized Alzheimer’s Detection Using Machine Learning with SMOTE and Randomized Hyperparameter Tuning</a:t>
            </a:r>
            <a:endParaRPr lang="en-GB" sz="1300" dirty="0">
              <a:latin typeface="Aptos" panose="020B0004020202020204" pitchFamily="34" charset="0"/>
            </a:endParaRPr>
          </a:p>
          <a:p>
            <a:r>
              <a:rPr lang="en-GB" sz="1300" dirty="0">
                <a:latin typeface="Aptos" panose="020B0004020202020204" pitchFamily="34" charset="0"/>
              </a:rPr>
              <a:t>The paper focuses on </a:t>
            </a:r>
            <a:r>
              <a:rPr lang="en-GB" sz="1300" b="1" dirty="0">
                <a:latin typeface="Aptos" panose="020B0004020202020204" pitchFamily="34" charset="0"/>
              </a:rPr>
              <a:t>machine-learning-based early Alzheimer’s detection</a:t>
            </a:r>
            <a:r>
              <a:rPr lang="en-GB" sz="1300" dirty="0">
                <a:latin typeface="Aptos" panose="020B0004020202020204" pitchFamily="34" charset="0"/>
              </a:rPr>
              <a:t>, using data balancing, feature selection, model tuning, and a web-based prediction tool to make AI more practical and accessible.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IDEAS TO DISCUSS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Research Direction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1 · EFFICIENT MULTIMODAL PERCEPTION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664208"/>
            <a:ext cx="49377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small vision-language models for crop, fruit, disease, or field-scene understanding.</a:t>
            </a:r>
            <a:endParaRPr lang="en-US" sz="1300" dirty="0"/>
          </a:p>
          <a:p>
            <a:r>
              <a:rPr lang="en-US" sz="130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PEFT/QLoRA-style training to reduce compute while preserving accuracy for edge devices.</a:t>
            </a:r>
            <a:endParaRPr lang="en-US" sz="1300" dirty="0"/>
          </a:p>
          <a:p>
            <a:r>
              <a:rPr lang="en-US" sz="1300" dirty="0">
                <a:solidFill>
                  <a:srgbClr val="203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under lighting variation, occlusion, limited data, and changing field conditions.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sz="1050">
                <a:solidFill>
                  <a:srgbClr val="30704D"/>
                </a:solidFill>
              </a:rPr>
              <a:t>IDEA 2 · VLA + WORLD MODELS FOR ROBOTICS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63640" y="1664208"/>
            <a:ext cx="50749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dirty="0">
                <a:solidFill>
                  <a:srgbClr val="142D23"/>
                </a:solidFill>
                <a:latin typeface="Aptos" panose="020B0004020202020204" pitchFamily="34" charset="0"/>
              </a:rPr>
              <a:t>Explore Vision-Language-Action (VLA) models that turn visual/sensor input + language instructions into robot actions.</a:t>
            </a:r>
            <a:endParaRPr lang="en-US" sz="1300" dirty="0">
              <a:latin typeface="Aptos" panose="020B0004020202020204" pitchFamily="34" charset="0"/>
            </a:endParaRP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dirty="0">
                <a:solidFill>
                  <a:srgbClr val="142D23"/>
                </a:solidFill>
                <a:latin typeface="Aptos" panose="020B0004020202020204" pitchFamily="34" charset="0"/>
              </a:rPr>
              <a:t>Use </a:t>
            </a:r>
            <a:r>
              <a:rPr sz="1300" dirty="0" err="1">
                <a:solidFill>
                  <a:srgbClr val="142D23"/>
                </a:solidFill>
                <a:latin typeface="Aptos" panose="020B0004020202020204" pitchFamily="34" charset="0"/>
              </a:rPr>
              <a:t>OpenVLA</a:t>
            </a:r>
            <a:r>
              <a:rPr sz="1300" dirty="0">
                <a:solidFill>
                  <a:srgbClr val="142D23"/>
                </a:solidFill>
                <a:latin typeface="Aptos" panose="020B0004020202020204" pitchFamily="34" charset="0"/>
              </a:rPr>
              <a:t> and RT-X/RT-2 as practical baselines; review Pi-0, GR00T, and </a:t>
            </a:r>
            <a:r>
              <a:rPr sz="1300" dirty="0" err="1">
                <a:solidFill>
                  <a:srgbClr val="142D23"/>
                </a:solidFill>
                <a:latin typeface="Aptos" panose="020B0004020202020204" pitchFamily="34" charset="0"/>
              </a:rPr>
              <a:t>PaLM</a:t>
            </a:r>
            <a:r>
              <a:rPr sz="1300" dirty="0">
                <a:solidFill>
                  <a:srgbClr val="142D23"/>
                </a:solidFill>
                <a:latin typeface="Aptos" panose="020B0004020202020204" pitchFamily="34" charset="0"/>
              </a:rPr>
              <a:t>-E for broader embodied AI direction.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dirty="0">
                <a:solidFill>
                  <a:srgbClr val="142D23"/>
                </a:solidFill>
                <a:latin typeface="Aptos" panose="020B0004020202020204" pitchFamily="34" charset="0"/>
              </a:rPr>
              <a:t>Fine-tune or domain-adapt these models for agricultural scenes: crops, tools, occlusion, lighting, greenhouse/field constraints.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300" dirty="0">
                <a:solidFill>
                  <a:srgbClr val="142D23"/>
                </a:solidFill>
                <a:latin typeface="Aptos" panose="020B0004020202020204" pitchFamily="34" charset="0"/>
              </a:rPr>
              <a:t>Add world-model learning to predict next states before acting, improving safer navigation, inspection, harvesting, and manipulation.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59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STARTING CONTRIBUTION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932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650">
                <a:solidFill>
                  <a:srgbClr val="142D23"/>
                </a:solidFill>
              </a:rPr>
              <a:t>• Begin with literature review and reproducible baselines for VLA/world models in agricultural robotics.</a:t>
            </a:r>
            <a:endParaRPr lang="en-US" sz="1420" dirty="0"/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650">
                <a:solidFill>
                  <a:srgbClr val="142D23"/>
                </a:solidFill>
              </a:rPr>
              <a:t>• Build a domain-adaptation pipeline: datasets, action labels, evaluation metrics, and robot-task benchmarks.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650">
                <a:solidFill>
                  <a:srgbClr val="142D23"/>
                </a:solidFill>
              </a:rPr>
              <a:t>• Aim: publish a field-relevant method for reliable, efficient embodied AI in AgBodied Lab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CAN CONTRIBUTE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44929" y="1417320"/>
            <a:ext cx="7527471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ple Color Emoji" pitchFamily="2" charset="0"/>
                <a:cs typeface="Aptos" pitchFamily="34" charset="-120"/>
              </a:rPr>
              <a:t>I can bridge research and engineering: I know how to design experiments, but also how to deploy working AI systems.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ple Color Emoji" pitchFamily="2" charset="0"/>
                <a:cs typeface="Aptos" pitchFamily="34" charset="-120"/>
              </a:rPr>
              <a:t>I am comfortable with constraints: limited compute, limited data, latency requirements, and reliability concerns.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ple Color Emoji" pitchFamily="2" charset="0"/>
                <a:cs typeface="Aptos" pitchFamily="34" charset="-120"/>
              </a:rPr>
              <a:t>I have already worked with efficient fine-tuning, small LLMs, synthetic data, multimodal models, and AI agents.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ple Color Emoji" pitchFamily="2" charset="0"/>
                <a:cs typeface="Aptos" pitchFamily="34" charset="-120"/>
              </a:rPr>
              <a:t>I can support the lab through coding, model training, dataset preparation, evaluation, writing and validating as well.</a:t>
            </a:r>
            <a:endParaRPr lang="en-US" sz="13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03027"/>
                </a:solidFill>
                <a:latin typeface="Aptos" panose="020B0004020202020204" pitchFamily="34" charset="0"/>
                <a:ea typeface="Apple Color Emoji" pitchFamily="2" charset="0"/>
                <a:cs typeface="Aptos" pitchFamily="34" charset="-120"/>
              </a:rPr>
              <a:t>Most importantly, I am motivated to grow into a careful researcher who asks clear questions and builds useful systems.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52064" y="1463040"/>
            <a:ext cx="1477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1901952"/>
            <a:ext cx="1325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papers and writing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1268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12680" y="1901952"/>
            <a:ext cx="1325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mindset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30358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503920" y="3474720"/>
            <a:ext cx="1325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LLM/VLM 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12680" y="30358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12680" y="3474720"/>
            <a:ext cx="1325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1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agriculture robotics goal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937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83A2C"/>
                </a:solidFill>
              </a:rPr>
              <a:t>I want to be useful from day one and still remain coachable enough to grow deeply in agricultural robotics.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00584" cy="530352"/>
          </a:xfrm>
          <a:prstGeom prst="rect">
            <a:avLst/>
          </a:prstGeom>
          <a:solidFill>
            <a:srgbClr val="2F6B45"/>
          </a:solidFill>
          <a:ln w="12700">
            <a:solidFill>
              <a:srgbClr val="2F6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3774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5A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TRAJECTORY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" y="69494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Short-Term and Long-Term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975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6–12 MONTHS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563836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Understand active AgBodied Lab projects.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Reproduce baselines and build strong evaluation pipelines.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Contribute to perception or multimodal sensing experiments.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Prepare a publishable research direction with Dr. Yaqoob.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0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F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GRADUATE STUDY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1975104"/>
            <a:ext cx="5629013" cy="157083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Develop efficient AI methods for robotic perception and decision-making.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Publish in strong AI, robotics, agriculture, or applied ML venues.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Build systems that can be tested beyond clean datasets.</a:t>
            </a:r>
            <a:endParaRPr lang="en-US" sz="1400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203027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Collaborate across CS, engineering, robotics, and plant science.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C59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A2C"/>
                </a:solidFill>
              </a:rPr>
              <a:t>Become a researcher who builds trustworthy, efficient, and field-ready AI systems for real-world automation and human-centered impact.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83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68680" y="19476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3027"/>
                </a:solidFill>
              </a:rPr>
              <a:t>I would be grateful for the opportunity to contribute to AgBodied Lab and learn under your guidance.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75120" y="1600200"/>
            <a:ext cx="434340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23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1C609134-16E1-9FBC-77C5-B4B0256D0A48}"/>
              </a:ext>
            </a:extLst>
          </p:cNvPr>
          <p:cNvSpPr/>
          <p:nvPr/>
        </p:nvSpPr>
        <p:spPr>
          <a:xfrm>
            <a:off x="868680" y="266090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3027"/>
                </a:solidFill>
              </a:rPr>
              <a:t>Questions and Feedback.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2261</Words>
  <Application>Microsoft Macintosh PowerPoint</Application>
  <PresentationFormat>Widescreen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with 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Hamza Rauf - Research Fit with AgBodied Lab</dc:title>
  <dc:subject>Advisor presentation for Dr. Yaqoob Majeed</dc:subject>
  <dc:creator>Hamza Rauf</dc:creator>
  <cp:lastModifiedBy>Microsoft Office User</cp:lastModifiedBy>
  <cp:revision>34</cp:revision>
  <dcterms:created xsi:type="dcterms:W3CDTF">2026-05-19T23:34:16Z</dcterms:created>
  <dcterms:modified xsi:type="dcterms:W3CDTF">2026-05-20T01:48:12Z</dcterms:modified>
</cp:coreProperties>
</file>